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60" r:id="rId4"/>
    <p:sldId id="261" r:id="rId5"/>
    <p:sldId id="259" r:id="rId6"/>
    <p:sldId id="258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377004-8604-4596-AAFB-3C7025BE8E55}" v="35" dt="2025-11-13T17:45:59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52" d="100"/>
          <a:sy n="52" d="100"/>
        </p:scale>
        <p:origin x="116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Hohl" userId="757b1534c68434be" providerId="LiveId" clId="{8309D496-D402-4A20-8B21-DD190979B1F5}"/>
    <pc:docChg chg="undo custSel addSld modSld">
      <pc:chgData name="Brian Hohl" userId="757b1534c68434be" providerId="LiveId" clId="{8309D496-D402-4A20-8B21-DD190979B1F5}" dt="2025-11-13T17:46:00.999" v="405" actId="1076"/>
      <pc:docMkLst>
        <pc:docMk/>
      </pc:docMkLst>
      <pc:sldChg chg="addSp modSp mod">
        <pc:chgData name="Brian Hohl" userId="757b1534c68434be" providerId="LiveId" clId="{8309D496-D402-4A20-8B21-DD190979B1F5}" dt="2025-11-13T17:42:02.452" v="379"/>
        <pc:sldMkLst>
          <pc:docMk/>
          <pc:sldMk cId="3959180352" sldId="256"/>
        </pc:sldMkLst>
        <pc:spChg chg="mod">
          <ac:chgData name="Brian Hohl" userId="757b1534c68434be" providerId="LiveId" clId="{8309D496-D402-4A20-8B21-DD190979B1F5}" dt="2025-11-06T16:37:05.646" v="356" actId="20577"/>
          <ac:spMkLst>
            <pc:docMk/>
            <pc:sldMk cId="3959180352" sldId="256"/>
            <ac:spMk id="5" creationId="{6A93C3DC-C0AA-43D8-7BC1-4DE980FB47D7}"/>
          </ac:spMkLst>
        </pc:spChg>
        <pc:spChg chg="add mod">
          <ac:chgData name="Brian Hohl" userId="757b1534c68434be" providerId="LiveId" clId="{8309D496-D402-4A20-8B21-DD190979B1F5}" dt="2025-11-06T16:35:27.635" v="339" actId="20577"/>
          <ac:spMkLst>
            <pc:docMk/>
            <pc:sldMk cId="3959180352" sldId="256"/>
            <ac:spMk id="6" creationId="{BC97DEC6-8286-2CE1-84AD-0BF244332C58}"/>
          </ac:spMkLst>
        </pc:spChg>
        <pc:picChg chg="add mod">
          <ac:chgData name="Brian Hohl" userId="757b1534c68434be" providerId="LiveId" clId="{8309D496-D402-4A20-8B21-DD190979B1F5}" dt="2025-11-13T17:42:02.452" v="379"/>
          <ac:picMkLst>
            <pc:docMk/>
            <pc:sldMk cId="3959180352" sldId="256"/>
            <ac:picMk id="1030" creationId="{9B1D926D-6F2B-2DC7-DC71-6CDDB803327B}"/>
          </ac:picMkLst>
        </pc:picChg>
      </pc:sldChg>
      <pc:sldChg chg="add">
        <pc:chgData name="Brian Hohl" userId="757b1534c68434be" providerId="LiveId" clId="{8309D496-D402-4A20-8B21-DD190979B1F5}" dt="2025-11-04T22:59:21.313" v="266"/>
        <pc:sldMkLst>
          <pc:docMk/>
          <pc:sldMk cId="2744255765" sldId="259"/>
        </pc:sldMkLst>
      </pc:sldChg>
      <pc:sldChg chg="addSp modSp new mod">
        <pc:chgData name="Brian Hohl" userId="757b1534c68434be" providerId="LiveId" clId="{8309D496-D402-4A20-8B21-DD190979B1F5}" dt="2025-11-06T16:41:35.821" v="362" actId="1076"/>
        <pc:sldMkLst>
          <pc:docMk/>
          <pc:sldMk cId="1710152677" sldId="260"/>
        </pc:sldMkLst>
        <pc:picChg chg="add mod modCrop">
          <ac:chgData name="Brian Hohl" userId="757b1534c68434be" providerId="LiveId" clId="{8309D496-D402-4A20-8B21-DD190979B1F5}" dt="2025-11-06T16:41:35.821" v="362" actId="1076"/>
          <ac:picMkLst>
            <pc:docMk/>
            <pc:sldMk cId="1710152677" sldId="260"/>
            <ac:picMk id="5" creationId="{1172E6D7-CA15-9542-FA5C-4E1DDC2FACDA}"/>
          </ac:picMkLst>
        </pc:picChg>
      </pc:sldChg>
      <pc:sldChg chg="addSp modSp new mod">
        <pc:chgData name="Brian Hohl" userId="757b1534c68434be" providerId="LiveId" clId="{8309D496-D402-4A20-8B21-DD190979B1F5}" dt="2025-11-06T17:01:12.748" v="366" actId="14100"/>
        <pc:sldMkLst>
          <pc:docMk/>
          <pc:sldMk cId="168448763" sldId="261"/>
        </pc:sldMkLst>
        <pc:picChg chg="add mod">
          <ac:chgData name="Brian Hohl" userId="757b1534c68434be" providerId="LiveId" clId="{8309D496-D402-4A20-8B21-DD190979B1F5}" dt="2025-11-06T17:01:12.748" v="366" actId="14100"/>
          <ac:picMkLst>
            <pc:docMk/>
            <pc:sldMk cId="168448763" sldId="261"/>
            <ac:picMk id="5" creationId="{ABE685FD-02CF-E0E6-29FA-949F774086E1}"/>
          </ac:picMkLst>
        </pc:picChg>
      </pc:sldChg>
      <pc:sldChg chg="addSp delSp modSp new mod">
        <pc:chgData name="Brian Hohl" userId="757b1534c68434be" providerId="LiveId" clId="{8309D496-D402-4A20-8B21-DD190979B1F5}" dt="2025-11-13T17:46:00.999" v="405" actId="1076"/>
        <pc:sldMkLst>
          <pc:docMk/>
          <pc:sldMk cId="1392172146" sldId="262"/>
        </pc:sldMkLst>
        <pc:picChg chg="add mod">
          <ac:chgData name="Brian Hohl" userId="757b1534c68434be" providerId="LiveId" clId="{8309D496-D402-4A20-8B21-DD190979B1F5}" dt="2025-11-13T17:44:14.063" v="391" actId="1076"/>
          <ac:picMkLst>
            <pc:docMk/>
            <pc:sldMk cId="1392172146" sldId="262"/>
            <ac:picMk id="2" creationId="{66E4174A-D9DB-AC4F-9C6D-D92278519D72}"/>
          </ac:picMkLst>
        </pc:picChg>
        <pc:picChg chg="add mod">
          <ac:chgData name="Brian Hohl" userId="757b1534c68434be" providerId="LiveId" clId="{8309D496-D402-4A20-8B21-DD190979B1F5}" dt="2025-11-13T17:46:00.999" v="405" actId="1076"/>
          <ac:picMkLst>
            <pc:docMk/>
            <pc:sldMk cId="1392172146" sldId="262"/>
            <ac:picMk id="3" creationId="{21766015-06E7-D78D-8DBD-07EE9535F800}"/>
          </ac:picMkLst>
        </pc:picChg>
        <pc:picChg chg="add mod">
          <ac:chgData name="Brian Hohl" userId="757b1534c68434be" providerId="LiveId" clId="{8309D496-D402-4A20-8B21-DD190979B1F5}" dt="2025-11-13T17:45:32.800" v="401" actId="14861"/>
          <ac:picMkLst>
            <pc:docMk/>
            <pc:sldMk cId="1392172146" sldId="262"/>
            <ac:picMk id="1026" creationId="{BE917FC2-E801-EEFD-7AB7-6C282ADA7E80}"/>
          </ac:picMkLst>
        </pc:picChg>
        <pc:picChg chg="add mod">
          <ac:chgData name="Brian Hohl" userId="757b1534c68434be" providerId="LiveId" clId="{8309D496-D402-4A20-8B21-DD190979B1F5}" dt="2025-11-13T17:45:10.822" v="398" actId="14861"/>
          <ac:picMkLst>
            <pc:docMk/>
            <pc:sldMk cId="1392172146" sldId="262"/>
            <ac:picMk id="1028" creationId="{BFD8133E-C68F-92D8-0A94-306DA7EC076D}"/>
          </ac:picMkLst>
        </pc:picChg>
        <pc:picChg chg="add del mod">
          <ac:chgData name="Brian Hohl" userId="757b1534c68434be" providerId="LiveId" clId="{8309D496-D402-4A20-8B21-DD190979B1F5}" dt="2025-11-13T17:41:57.470" v="378" actId="21"/>
          <ac:picMkLst>
            <pc:docMk/>
            <pc:sldMk cId="1392172146" sldId="262"/>
            <ac:picMk id="1030" creationId="{9B1D926D-6F2B-2DC7-DC71-6CDDB803327B}"/>
          </ac:picMkLst>
        </pc:picChg>
        <pc:picChg chg="add mod">
          <ac:chgData name="Brian Hohl" userId="757b1534c68434be" providerId="LiveId" clId="{8309D496-D402-4A20-8B21-DD190979B1F5}" dt="2025-11-13T17:45:40.247" v="403" actId="14100"/>
          <ac:picMkLst>
            <pc:docMk/>
            <pc:sldMk cId="1392172146" sldId="262"/>
            <ac:picMk id="1032" creationId="{48D20FB2-EE6D-C512-C3C8-440FD07F32A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A3016-6EF6-B879-F95A-8E139039A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D9EEC-FF82-DFA3-7895-6E110434D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9FA39-CE21-A04C-5882-EE385D12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254FB-37FE-8E88-7A6F-FB31926D0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799C6-0E6A-C41F-8AA3-612D3E8E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21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E76ED-7D08-C3EE-8770-1070DF172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665D1-5C8F-1F40-3764-C26E40E69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59FC3-F05F-648A-62F0-49D85902E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73082-588D-7124-F712-0802CAAE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172BD-F2DD-FE4C-4985-91530EA1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5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40F1-FEE6-6FB7-3A1D-3328729A4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7BF26-5E9D-D6C9-338D-D119585C5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88680-AF8A-C87D-1787-F1DA792A3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5180D-BDA4-8CCB-83AC-F3A800CC9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754CF-A30C-A166-B02A-020AB608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3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288C-7D35-32F0-706B-737A6D6D7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844CD-5C5D-AECB-F263-92F7A67D7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3C7E3-CA0D-3CF7-69A7-3F261E02F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C3EA9-15E8-2658-1AD3-23127187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A9FEE-1ADA-51AB-54B5-A8EA92980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9432E-BFFD-5E6D-CF80-7CF3C7F8F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35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B27A-C268-F564-FD5D-356AAE242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CB06A-E1C3-114E-20F4-6962C1AF1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08CB9-B0CC-F311-BB84-12992B59A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0C3A3-025D-F347-4B1E-614CDF676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5C8A8F-F45E-A02D-CFA7-1405D13FE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3F43F6-364B-788C-B20C-E8BEDEFA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5502DD-8834-FE16-58BB-50D1AEF98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50D44-8EAC-292C-C350-AE0E9ECD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19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337D9-089E-53DE-86BB-91F97EE7D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4C48D-19C5-671B-E5CD-D0386F8AE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5254B-EEED-7CE5-B7B2-87C728F8F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1AEC8-757F-A1CE-4D99-42CFA9DC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27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8070-E783-F180-3DF3-A4EBE985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69668-A2D4-D8AC-A88E-752DE3999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BE7E0-5632-47BA-ADD8-7506928A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27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5EFE7-B67A-8F8A-D3D3-885B737D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59FC1-C4B0-4579-0E0F-7ED3A79B5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AE2BB9-5ADA-1DE0-0AD6-4195501FD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E7053-A317-E6F0-5F03-6634E6FD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AB6F5-9A64-705A-6BC1-CBA5F2CF7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D04F6-BE84-07C6-B30D-CEEFB8FB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F4AB2-6FC5-926B-4D25-413AA6585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C904B8-97FE-E725-A519-21E5B254F7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8FC4B-7BB0-0B37-99CA-6C3BB41E1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1A39A-E94C-CD75-4EE6-4DBD83F3D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808E0-4AA7-B77C-35E6-8234CC1E5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2368E-3DCE-02E8-8B22-B237683F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96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3F85-6F24-823E-8EB9-A259C991F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533F4-E23F-45BE-4E73-632F0E0F3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DF663-7781-44F9-ED06-8087F3793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03CBE-08A6-D7D0-4DDD-C92C02AEB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29F17-6316-D56E-962E-97A569A7E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29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F26961-1BAB-B02B-6372-F5A326C3BD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3E267-4EAE-F762-96FF-0E8BE4C2A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65E58-3A1A-F885-15E5-DFB6BAD7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22005-7C2E-F222-4006-6B6B3A18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E28E7-B421-20A8-F0DB-6A6FF526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06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233660-04C2-7615-C0FD-63C8B0486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BCE38-D800-D3A6-9DE7-5A0AC061E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4B7B5-FD48-63BE-BB3E-1566F541B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DFBEF-7445-EB50-D9AE-DAF210D11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06A33-4D2C-FC7F-E2BC-A823F3817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51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cho Canyon School at Scottsdale ...">
            <a:extLst>
              <a:ext uri="{FF2B5EF4-FFF2-40B4-BE49-F238E27FC236}">
                <a16:creationId xmlns:a16="http://schemas.microsoft.com/office/drawing/2014/main" id="{BE917FC2-E801-EEFD-7AB7-6C282ADA7E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615" b="14533"/>
          <a:stretch>
            <a:fillRect/>
          </a:stretch>
        </p:blipFill>
        <p:spPr bwMode="auto">
          <a:xfrm>
            <a:off x="5028686" y="2511511"/>
            <a:ext cx="2628900" cy="132217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cottsdale Unified considers closing ...">
            <a:extLst>
              <a:ext uri="{FF2B5EF4-FFF2-40B4-BE49-F238E27FC236}">
                <a16:creationId xmlns:a16="http://schemas.microsoft.com/office/drawing/2014/main" id="{BFD8133E-C68F-92D8-0A94-306DA7EC07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4131"/>
          <a:stretch>
            <a:fillRect/>
          </a:stretch>
        </p:blipFill>
        <p:spPr bwMode="auto">
          <a:xfrm>
            <a:off x="4200011" y="3600620"/>
            <a:ext cx="2857500" cy="121405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cottsdale Unified School District">
            <a:extLst>
              <a:ext uri="{FF2B5EF4-FFF2-40B4-BE49-F238E27FC236}">
                <a16:creationId xmlns:a16="http://schemas.microsoft.com/office/drawing/2014/main" id="{48D20FB2-EE6D-C512-C3C8-440FD07F3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011" y="709761"/>
            <a:ext cx="1895989" cy="188756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E4174A-D9DB-AC4F-9C6D-D92278519D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164" y="4513990"/>
            <a:ext cx="6608637" cy="22496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766015-06E7-D78D-8DBD-07EE9535F8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5261" y="301289"/>
            <a:ext cx="3560373" cy="421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7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93C3DC-C0AA-43D8-7BC1-4DE980FB47D7}"/>
                  </a:ext>
                </a:extLst>
              </p:cNvPr>
              <p:cNvSpPr txBox="1"/>
              <p:nvPr/>
            </p:nvSpPr>
            <p:spPr>
              <a:xfrm>
                <a:off x="-1" y="-44476"/>
                <a:ext cx="12192001" cy="71760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(Summary) What comprises the ~$900K / school savings in case of a repurpose?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  <a:p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Superintendent team members suggested—and the model shows—there is ~$900K savings / school from a repurpose.  Most of the $900K comes from fixed M&amp;O that goes away when a campus is repurposed; a smaller share is offset by enrollment effects—students who leave reduce revenue, students who stay add small routing/admin expense. If the site‑fixed numbers and the first‑year persistence are right—and most families are retained—the savings will land close to that order of magnitude.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Plain‑English decomposition (explaining the delta in the context of this model)</a:t>
                </a:r>
                <a:endParaRPr lang="en-US" sz="1000" u="sng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a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repurpose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case relative to status‑quo,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improvement in a target year (e.g., FY2030) is well‑approximated by:</a:t>
                </a:r>
              </a:p>
              <a:p>
                <a:pPr>
                  <a:buNone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US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Net</m:t>
                      </m:r>
                      <m:r>
                        <a:rPr lang="en-US" sz="1000" b="0" i="0">
                          <a:latin typeface="Cambria Math" panose="02040503050406030204" pitchFamily="18" charset="0"/>
                        </a:rPr>
                        <m:t>≈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Credited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fixed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M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savings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site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fixed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lost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students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’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net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contribution</m:t>
                              </m:r>
                            </m:e>
                          </m:groupChr>
                        </m:e>
                        <m:lim>
                          <m:d>
                            <m:dPr>
                              <m:ctrlPr>
                                <a:rPr lang="ar-AE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retention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routing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/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admin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overhead</m:t>
                              </m:r>
                            </m:e>
                          </m:groupChr>
                        </m:e>
                        <m:lim>
                          <m:r>
                            <a:rPr lang="ar-AE" sz="1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h</m:t>
                          </m:r>
                        </m:lim>
                      </m:limLow>
                    </m:oMath>
                  </m:oMathPara>
                </a14:m>
                <a:endParaRPr lang="en-US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endParaRPr lang="ar-AE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Credited fixed M&amp;O savings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the biggest piece. It is each site’s audited fixed costs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minus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residuals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 assume persist after repurpose (the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ramp: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Savings ramp up over a few years rather than showing up all at once (conservative assumption).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Lost students’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exit SUSD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reduce Net by roughly their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marginal contribution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each. In today’s settings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positive (Aid + Override(if on) + Uplift –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 – growth overhead), so losing students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hurts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Net.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(share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displaced) keep their revenue, but they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 a routing/admin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tapered).</a:t>
                </a:r>
              </a:p>
              <a:p>
                <a:pPr marL="117475"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this means intuitively</a:t>
                </a:r>
                <a:endParaRPr lang="en-US" sz="1000" u="sng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current model,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~$0.9M\$1M/site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shows up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mostly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we credit substantial fixed‑cost savings (net of realistic persistence)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only a fraction of displaced students leave the district permanently. The students we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(retention) soften the blow to revenue; the overhead they add is comparatively small against their revenue stream (m » h).</a:t>
                </a:r>
              </a:p>
              <a:p>
                <a:pPr marL="117475"/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variation of repurpose, residuals are assumed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&lt;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If lease </a:t>
                </a:r>
                <a:r>
                  <a:rPr lang="en-US" sz="10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revenue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negotiated in the real world, that would be an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positive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too; we would add it explicitly once it’s known.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Which variables is this most sensitive to?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Audited site‑fixed dollars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biggest sensitivity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): assuming best to use Echo/Pima Fund 001 fixed M&amp;O by function. The delta moves with these dollars and with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 (e.g., crediting 70% vs 55% of a $1.2M fixed base is a ~$180k swing per site).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(r)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higher 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improves the repurpose delta materially. A 10‑point change in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changes </a:t>
                </a:r>
                <a:r>
                  <a:rPr lang="el-GR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Net by roughly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0.10 × D × (m − h)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117475"/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(marginal contribution per student)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 sz="1000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moves with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(policy‑indexed),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override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uplift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 inflation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:r>
                  <a:rPr lang="en-US" sz="10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If mᵗ tightens (e.g., costs inflate faster than Aid),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better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vs status quo because the “lost students” term shrinks.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(retention overhead)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𝑟𝐷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h₀ anchor is conservative and tapered (see audit link below). If routing/admin costs end up materially higher,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weaker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; if lower,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stronger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can we further sense-check this number?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Paste audited site‑fixed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totals and keep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f‑ramps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conservative in Year‑1.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verified Echo/Pima ADM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(40th/100th) so displaced counts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are real.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Stick with policy‑indexed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conservative growth assumptions so marginal contribution isn’t inflated.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documented anchors for 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(routing/admin) and preserve the taper.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93C3DC-C0AA-43D8-7BC1-4DE980FB4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-44476"/>
                <a:ext cx="12192001" cy="71760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BC97DEC6-8286-2CE1-84AD-0BF244332C58}"/>
              </a:ext>
            </a:extLst>
          </p:cNvPr>
          <p:cNvSpPr/>
          <p:nvPr/>
        </p:nvSpPr>
        <p:spPr>
          <a:xfrm>
            <a:off x="0" y="0"/>
            <a:ext cx="12192000" cy="6804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(Summary) What comprises the ~$900K-$1M / school savings in case of a repurpose?</a:t>
            </a: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r>
              <a:rPr lang="en-US" sz="1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Superintendent team members suggested—and the model shows—there is ~$900K savings / school from a repurpose.  Most of the $900K comes from fixed M&amp;O that goes away when a campus is repurposed; a smaller share is offset by enrollment effects—students who leave reduce revenue, students who stay add small routing/admin expense. If the site‑fixed numbers and the first‑year persistence are right—and most families are retained—the savings will land close to that order of magnitude.</a:t>
            </a:r>
          </a:p>
        </p:txBody>
      </p:sp>
      <p:pic>
        <p:nvPicPr>
          <p:cNvPr id="1030" name="Picture 6" descr="Scottsdale Unified schools will stop ...">
            <a:extLst>
              <a:ext uri="{FF2B5EF4-FFF2-40B4-BE49-F238E27FC236}">
                <a16:creationId xmlns:a16="http://schemas.microsoft.com/office/drawing/2014/main" id="{9B1D926D-6F2B-2DC7-DC71-6CDDB8033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771525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180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7035C-8667-F2BB-42B6-FB41C87FD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F9810-6D7E-90A9-EAF9-E59EC0CC8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72E6D7-CA15-9542-FA5C-4E1DDC2FA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326" r="46104"/>
          <a:stretch>
            <a:fillRect/>
          </a:stretch>
        </p:blipFill>
        <p:spPr>
          <a:xfrm>
            <a:off x="838200" y="-379004"/>
            <a:ext cx="10132828" cy="717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52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1524B-2B8D-0943-0B65-B4F40852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721C0-4C4B-879A-DF74-0B1EB86B5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E685FD-02CF-E0E6-29FA-949F77408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1" y="-112159"/>
            <a:ext cx="10688146" cy="660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48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2EE2A-E990-06A5-1D57-A468BAB1E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5BA78D-5612-5D37-8942-C2B746FCE4A8}"/>
                  </a:ext>
                </a:extLst>
              </p:cNvPr>
              <p:cNvSpPr txBox="1"/>
              <p:nvPr/>
            </p:nvSpPr>
            <p:spPr>
              <a:xfrm>
                <a:off x="-1" y="-44476"/>
                <a:ext cx="12192001" cy="71760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(Summary) What comprises the ~$900K / school savings in case of a repurpose?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  <a:p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Superintendent team members suggested—and the model shows—there is ~$900K savings / school from a repurpose.  Most of the $900K comes from fixed M&amp;O that goes away when a campus is repurposed; a smaller share is offset by enrollment effects—students who leave reduce revenue, students who stay add small routing/admin expense. If the site‑fixed numbers and the first‑year persistence are right—and most families are retained—the savings will land close to that order of magnitude.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Plain‑English decomposition (explaining the delta in the context of this model)</a:t>
                </a:r>
                <a:endParaRPr lang="en-US" sz="1000" u="sng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a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repurpose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case relative to status‑quo,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improvement in a target year (e.g., FY2030) is well‑approximated by:</a:t>
                </a:r>
              </a:p>
              <a:p>
                <a:pPr>
                  <a:buNone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US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Net</m:t>
                      </m:r>
                      <m:r>
                        <a:rPr lang="en-US" sz="1000" b="0" i="0">
                          <a:latin typeface="Cambria Math" panose="02040503050406030204" pitchFamily="18" charset="0"/>
                        </a:rPr>
                        <m:t>≈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Credited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fixed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M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savings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site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fixed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lost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students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’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net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contribution</m:t>
                              </m:r>
                            </m:e>
                          </m:groupChr>
                        </m:e>
                        <m:lim>
                          <m:d>
                            <m:dPr>
                              <m:ctrlPr>
                                <a:rPr lang="ar-AE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retention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routing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/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admin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overhead</m:t>
                              </m:r>
                            </m:e>
                          </m:groupChr>
                        </m:e>
                        <m:lim>
                          <m:r>
                            <a:rPr lang="ar-AE" sz="1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h</m:t>
                          </m:r>
                        </m:lim>
                      </m:limLow>
                    </m:oMath>
                  </m:oMathPara>
                </a14:m>
                <a:endParaRPr lang="en-US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endParaRPr lang="ar-AE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Credited fixed M&amp;O savings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the biggest piece. It is each site’s audited fixed costs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minus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residuals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 assume persist after repurpose (the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ramp: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Savings ramp up over a few years rather than showing up all at once (conservative assumption).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Lost students’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exit SUSD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reduce Net by roughly their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marginal contribution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each. In today’s settings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positive (Aid + Override(if on) + Uplift –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 – growth overhead), so losing students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hurts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Net.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(share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displaced) keep their revenue, but they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 a routing/admin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tapered).</a:t>
                </a:r>
              </a:p>
              <a:p>
                <a:pPr marL="117475"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this means intuitively: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current model,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~$0.9M/site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shows up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mostly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we credit substantial fixed‑cost savings (net of realistic persistence)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only a fraction of displaced students leave the district permanently. The students we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(retention) soften the blow to revenue; the overhead they add is comparatively small against their revenue stream (m » h).</a:t>
                </a:r>
              </a:p>
              <a:p>
                <a:pPr marL="117475"/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variation of repurpose, residuals are assumed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&lt;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If lease </a:t>
                </a:r>
                <a:r>
                  <a:rPr lang="en-US" sz="10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revenue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negotiated in the real world, that would be an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positive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too; we would add it explicitly once it’s known.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Which variables is “$900K per site” most sensitive to?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Audited site‑fixed dollars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biggest sensitivity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): assuming best to use Echo/Pima Fund 001 fixed M&amp;O by function. The delta moves with these dollars and with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 (e.g., crediting 70% vs 55% of a $1.2M fixed base is a ~$180k swing per site).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(r)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higher 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improves the repurpose delta materially. A 10‑point change in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changes </a:t>
                </a:r>
                <a:r>
                  <a:rPr lang="el-GR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Net by roughly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0.10 × D × (m − h)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117475"/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(marginal contribution per student)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 sz="1000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moves with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(policy‑indexed),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override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uplift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 inflation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:r>
                  <a:rPr lang="en-US" sz="10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If mᵗ tightens (e.g., costs inflate faster than Aid),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better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vs status quo because the “lost students” term shrinks.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(retention overhead)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𝑟𝐷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h₀ anchor is conservative and tapered (see audit link below). If routing/admin costs end up materially higher,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weaker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; if lower,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stronger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can we further sense-check the $900K?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Paste audited site‑fixed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totals and keep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f‑ramps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conservative in Year‑1.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verified Echo/Pima ADM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(40th/100th) so displaced counts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are real.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Stick with policy‑indexed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the uplift policy you adopted so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isn’t inflated.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documented anchors for 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(routing/admin) and preserve the taper.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5BA78D-5612-5D37-8942-C2B746FCE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-44476"/>
                <a:ext cx="12192001" cy="71760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255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E8CA0-CE13-8003-4B34-7671822B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798E90-2F29-B70D-13A9-C53DCBF7991C}"/>
                  </a:ext>
                </a:extLst>
              </p:cNvPr>
              <p:cNvSpPr txBox="1"/>
              <p:nvPr/>
            </p:nvSpPr>
            <p:spPr>
              <a:xfrm>
                <a:off x="0" y="263882"/>
                <a:ext cx="12192000" cy="65605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to answer the Board’s “What is the ~$900K per school?” question</a:t>
                </a: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Plain‑English decomposition (what drives the delta in our model):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a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repurpose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case relative to status‑quo,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improvement in a target year (e.g., FY2030) is well‑approximated by: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US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Net</m:t>
                      </m:r>
                      <m:r>
                        <a:rPr lang="en-US" sz="1000" b="0" i="0">
                          <a:latin typeface="Cambria Math" panose="02040503050406030204" pitchFamily="18" charset="0"/>
                        </a:rPr>
                        <m:t>≈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Credited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fixed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M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savings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site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fixed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ar-AE" sz="1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0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sz="1000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10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lost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students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’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net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contribution</m:t>
                          </m:r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retention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routing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admin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overhead</m:t>
                          </m:r>
                        </m:lim>
                      </m:limLow>
                    </m:oMath>
                  </m:oMathPara>
                </a14:m>
                <a:endParaRPr lang="en-US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endParaRPr lang="ar-AE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Credited fixed M&amp;O savings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the biggest piece. It is each site’s audited fixed costs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minus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residuals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 assume persist after repurpose (the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ramp: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Savings ramp up over a few years rather than showing up all at once (that’s our conservative posture).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Lost students’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exit SUSD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reduce Net by roughly their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marginal contribution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each. Under today’s settings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positive (Aid + Override(if on) + Uplift –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 – growth overhead), so losing students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hurts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Net.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(share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displaced) keep their revenue, but they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 a routing/admin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tapered).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this means intuitively: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current build, that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~$0.9M/site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shows up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mostly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we credit substantial fixed‑cost savings (net of realistic persistence)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only a fraction of displaced students leave the district permanently. The students we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(retention) soften the blow to revenue; the overhead they add is comparatively small against their revenue stream (m » h).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flavor, residuals are assumed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&lt;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If lease </a:t>
                </a:r>
                <a:r>
                  <a:rPr lang="en-US" sz="10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revenue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negotiated in the real world, that would be an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positive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too; we would add it explicitly once it’s known.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Which variables is “$900K per site” most sensitive to?</a:t>
                </a:r>
              </a:p>
              <a:p>
                <a:pPr>
                  <a:buNone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Audited site‑fixed dollars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biggest sensitivity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): best to use Echo/Pima Fund 001 fixed M&amp;O by function. The delta moves with these dollars and with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 (e.g., crediting 70% vs 55% of a $1.2M fixed base is a ~$180k swing per site).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(r)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higher 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improves the repurpose delta materially. A 10‑point change in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changes </a:t>
                </a:r>
                <a:r>
                  <a:rPr lang="el-GR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Net by roughly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0.10 × D × (m − h)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(marginal contribution per student)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 sz="1000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moves with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(policy‑indexed),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override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uplift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 inflation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:r>
                  <a:rPr lang="en-US" sz="10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If mᵗ tightens (e.g., costs inflate faster than Aid),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better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vs status quo because the “lost students” term shrinks.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(retention overhead)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𝑟𝐷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h₀ anchor is conservative and tapered (see audit link below). If routing/admin costs end up materially higher,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weaker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; if lower,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stronger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must be “right” to be near $900K?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Paste audited site‑fixed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totals and keep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f‑ramps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conservative in Year‑1.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verified Echo/Pima ADM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(40th/100th) so displaced counts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are real.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Stick with policy‑indexed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the uplift policy you adopted so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isn’t inflated.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documented anchors for 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(routing/admin) and preserve the taper.</a:t>
                </a: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Board‑friendly line: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“Most of the $900K comes from fixed M&amp;O that goes away when a campus is repurposed; a smaller share is offset by enrollment effects—students who leave reduce revenue, students who stay add small routing/admin expense. If we get the site‑fixed numbers and the first‑year persistence right—and we retain most families—the savings will land close to that order of magnitude.”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798E90-2F29-B70D-13A9-C53DCBF79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3882"/>
                <a:ext cx="12192000" cy="6560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5678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1DEA6-53D7-219B-6368-5B49DB654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432D4A-409D-275A-E65A-B6889D231DCE}"/>
                  </a:ext>
                </a:extLst>
              </p:cNvPr>
              <p:cNvSpPr txBox="1"/>
              <p:nvPr/>
            </p:nvSpPr>
            <p:spPr>
              <a:xfrm>
                <a:off x="0" y="263882"/>
                <a:ext cx="12192000" cy="65605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to answer the Board’s “What is the ~$900K per school?” question</a:t>
                </a: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Plain‑English decomposition (what drives the delta in our model):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a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repurpose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case relative to status‑quo,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improvement in a target year (e.g., FY2030) is well‑approximated by: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US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Net</m:t>
                      </m:r>
                      <m:r>
                        <a:rPr lang="en-US" sz="1000" b="0" i="0">
                          <a:latin typeface="Cambria Math" panose="02040503050406030204" pitchFamily="18" charset="0"/>
                        </a:rPr>
                        <m:t>≈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Credited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fixed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M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savings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site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fixed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ar-AE" sz="1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0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sz="1000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10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lost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students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’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net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contribution</m:t>
                          </m:r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retention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routing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admin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overhead</m:t>
                          </m:r>
                        </m:lim>
                      </m:limLow>
                    </m:oMath>
                  </m:oMathPara>
                </a14:m>
                <a:endParaRPr lang="en-US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endParaRPr lang="ar-AE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Credited fixed M&amp;O savings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the biggest piece. It is each site’s audited fixed costs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minus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residuals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 assume persist after repurpose (the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ramp: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Savings ramp up over a few years rather than showing up all at once (that’s our conservative posture).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Lost students’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exit SUSD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reduce Net by roughly their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marginal contribution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each. Under today’s settings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positive (Aid + Override(if on) + Uplift –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 – growth overhead), so losing students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hurts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Net.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(share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displaced) keep their revenue, but they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 a routing/admin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tapered).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this means intuitively: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current build, that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~$0.9M/site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shows up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mostly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we credit substantial fixed‑cost savings (net of realistic persistence)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only a fraction of displaced students leave the district permanently. The students we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(retention) soften the blow to revenue; the overhead they add is comparatively small against their revenue stream (m » h).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flavor, residuals are assumed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&lt;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If lease </a:t>
                </a:r>
                <a:r>
                  <a:rPr lang="en-US" sz="10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revenue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negotiated in the real world, that would be an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positive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too; we would add it explicitly once it’s known.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Which variables is “$900K per site” most sensitive to?</a:t>
                </a:r>
              </a:p>
              <a:p>
                <a:pPr>
                  <a:buNone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Audited site‑fixed dollars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biggest sensitivity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): best to use Echo/Pima Fund 001 fixed M&amp;O by function. The delta moves with these dollars and with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 (e.g., crediting 70% vs 55% of a $1.2M fixed base is a ~$180k swing per site).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(r)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higher 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improves the repurpose delta materially. A 10‑point change in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changes </a:t>
                </a:r>
                <a:r>
                  <a:rPr lang="el-GR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Net by roughly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0.10 × D × (m − h)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(marginal contribution per student)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 sz="1000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moves with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(policy‑indexed),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override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uplift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 inflation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:r>
                  <a:rPr lang="en-US" sz="10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If mᵗ tightens (e.g., costs inflate faster than Aid),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better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vs status quo because the “lost students” term shrinks.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(retention overhead)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𝑟𝐷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h₀ anchor is conservative and tapered (see audit link below). If routing/admin costs end up materially higher,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weaker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; if lower,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stronger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must be “right” to be near $900K?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Paste audited site‑fixed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totals and keep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f‑ramps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conservative in Year‑1.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verified Echo/Pima ADM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(40th/100th) so displaced counts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are real.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Stick with policy‑indexed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the uplift policy you adopted so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isn’t inflated.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documented anchors for 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(routing/admin) and preserve the taper.</a:t>
                </a: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Board‑friendly line: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“Most of the $900K comes from fixed M&amp;O that goes away when a campus is repurposed; a smaller share is offset by enrollment effects—students who leave reduce revenue, students who stay add small routing/admin expense. If we get the site‑fixed numbers and the first‑year persistence right—and we retain most families—the savings will land close to that order of magnitude.”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432D4A-409D-275A-E65A-B6889D231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3882"/>
                <a:ext cx="12192000" cy="6560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99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5804</TotalTime>
  <Words>3084</Words>
  <Application>Microsoft Office PowerPoint</Application>
  <PresentationFormat>Widescreen</PresentationFormat>
  <Paragraphs>130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Hohl</dc:creator>
  <cp:lastModifiedBy>Brian Hohl</cp:lastModifiedBy>
  <cp:revision>1</cp:revision>
  <dcterms:created xsi:type="dcterms:W3CDTF">2025-11-04T22:41:00Z</dcterms:created>
  <dcterms:modified xsi:type="dcterms:W3CDTF">2025-11-13T17:46:11Z</dcterms:modified>
</cp:coreProperties>
</file>