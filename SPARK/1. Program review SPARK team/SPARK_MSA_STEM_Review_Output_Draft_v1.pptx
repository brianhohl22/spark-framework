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(Template slide; sources added on populated examples.)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(Template slide; sources added on populated examples.)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https://www.susd.org/academics/academic-programs/math-science-academy (program model, cohort/enhanced instruction, distinction requirements, competitions, capstone field experience)
- https://www.susd.org/academics/academic-programs/math-science-academy/mohave-middle-school (Mohave launch framing; coherence/pipeline)
- https://scottsdale.tedk12.com/hire/Admin/JobPostingPrintView.aspx?Internal=&amp;JobID=11116 (Innovation Center resources + operational responsibilities)
- https://resources.finalsite.net/images/v1709637050/susdorg/ooielrlyhq78mrcu0kmy/saguarohighschoolprofile-.pdf (example annual counts/highlights)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https://www.susd.org/academics/academic-programs/math-science-academy
- https://www.susd.org/academics/academic-programs/math-science-academy/mohave-middle-school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https://www.susd.org/academics/academic-programs/stem-certified-schools (Cognia review, four domains, 16 standards, community involvement language)
- https://laguna.susd.org/academics (Laguna program elements)
- https://navajo.susd.org/academics (Navajo STEAM definition + program elements)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(Structure derived from SPARK Quality Indicators / Program Review Rubric; no external sources.)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(Framing derived from SPARK Quality Indicators / Program Review Rubric; no external sources.)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6E73"/>
          </a:solidFill>
          <a:ln w="12700">
            <a:solidFill>
              <a:srgbClr val="0B6E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Review Snapshot (Internal)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635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focus: implementation + system alignment (not program validity)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88375" y="12801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THEIR FUTURE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110944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98755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Program: &lt;Program Name&gt;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Sites/grades: &lt;Sites + grade bands&gt;  |  Structure: &lt;Schoolwide / within-school / dedicated&gt;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53619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Top takeaways (1–2 lines): &lt;What is working + what needs strengthening&gt;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1214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1. Alignment &amp; Purpose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3957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5968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94955" y="20116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2115" y="21214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2. Evidence &amp; Effectiveness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32115" y="23957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32115" y="25968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41270" y="20116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78430" y="21214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3. Equity &amp; Accessibility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78430" y="23957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78430" y="25968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87585" y="20116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24745" y="21214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4. Cost &amp; Resources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24745" y="23957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24745" y="25968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33900" y="20116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71060" y="21214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5. Training &amp; Support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71060" y="23957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71060" y="25968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54330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" y="365302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6. Impact (Students/Staff)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392734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412851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94955" y="354330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932115" y="365302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7. Implementation Feasibility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32115" y="392734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32115" y="412851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41270" y="354330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78430" y="365302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8. Data &amp; Evaluation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78430" y="392734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78430" y="412851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87585" y="354330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424745" y="365302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9. Stakeholder Support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24745" y="392734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24745" y="412851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533900" y="354330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671060" y="365302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10. Sustainability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671060" y="392734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&lt;Strength | Opportunity | Evidence gap&gt;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671060" y="412851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&lt;High/Med/Low&gt;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8640" y="5074920"/>
            <a:ext cx="547862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5193792"/>
            <a:ext cx="52043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Tier 1 evidence status (internal)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77240" y="5440680"/>
            <a:ext cx="52043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Have: &lt;list&gt;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Need: &lt;list&gt;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Public-safe: &lt;what can be shared&gt;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64428" y="5074920"/>
            <a:ext cx="547862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47308" y="5193792"/>
            <a:ext cx="52043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Support / uplift opportunities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347308" y="5440680"/>
            <a:ext cx="52043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1) &lt;Action + owner&gt;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2) &lt;Action + owner&gt;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3) &lt;Action + owner&gt;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4C50"/>
          </a:solidFill>
          <a:ln w="12700">
            <a:solidFill>
              <a:srgbClr val="084C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SPARK Program Review – working draft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905695" y="6601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2026-02-24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6E73"/>
          </a:solidFill>
          <a:ln w="12700">
            <a:solidFill>
              <a:srgbClr val="0B6E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Review Update (Public-facing template)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635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practical summary aligned to the Quality Indicators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88375" y="12801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THEIR FUTURE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6400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98755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Program at a glance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5852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Mini-story (2–3 sentences): &lt;what the program is and why it matters&gt;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What students experience: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&lt;Experience 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&lt;Experience 2&gt;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&lt;Experience 3&gt;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Who it serves + how to enroll: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&lt;Eligibility / enrollment pathway (plain language)&gt;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868680"/>
            <a:ext cx="451073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06640" y="987552"/>
            <a:ext cx="396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Strengths (baseline)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1234440"/>
            <a:ext cx="3962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&lt;Strength 1&gt;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&lt;Strength 2&gt;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&lt;Strength 3&gt;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2331720"/>
            <a:ext cx="396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Opportunities to strengthen (coherence + sustainability)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2578608"/>
            <a:ext cx="3962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&lt;Opportunity 1&gt;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&lt;Opportunity 2&gt;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&lt;Opportunity 3&gt;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3767328"/>
            <a:ext cx="396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Next steps (district + site)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4023360"/>
            <a:ext cx="3962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1) &lt;Action&gt;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2) &lt;Action&gt;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3) &lt;Action&gt;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144768"/>
            <a:ext cx="11094415" cy="301752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08776"/>
            <a:ext cx="106372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4C50"/>
                </a:solidFill>
              </a:rPr>
              <a:t>Aligned to SPARK Quality Indicators: Alignment &amp; Purpose • Equity &amp; Accessibility • Training &amp; Support • Implementation Feasibility • Data &amp; Evaluation • Sustainability (and related domains)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4C50"/>
          </a:solidFill>
          <a:ln w="12700">
            <a:solidFill>
              <a:srgbClr val="084C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SPARK Program Review – working draft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5695" y="6601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2026-02-24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6E73"/>
          </a:solidFill>
          <a:ln w="12700">
            <a:solidFill>
              <a:srgbClr val="0B6E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Review Update — Math &amp; Science Academy (MSA)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635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Draft: public-style story + improvement opportunities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88375" y="12801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THEIR FUTURE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6400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98755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Program at a glance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5852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MSA is a STEM-focused pathway that combines cohort classes (freshman/sophomore) with an upperclassman distinction track. Students engage in advanced coursework, competitions, and a capstone field experience/mentorship/research project.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Sites/grades: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• Saguaro High School (9–12)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• Mohave Middle School (6–8; modeled to create a seamless pathway)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What students experience (examples from public sources):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• Enhanced cohort instruction (labs, speakers, field trips)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• STEM competitions (e.g., Science Olympiad, Robotics, Science Bowl)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• Field experience/mentorship/research capstone and community service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0" y="868680"/>
            <a:ext cx="451073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987552"/>
            <a:ext cx="396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Strengths (baseline)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1234440"/>
            <a:ext cx="3962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Clear program requirements + recognition levels are documented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Longstanding program (Saguaro; launched 2008) with pipeline expansion to Mohave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Concrete student experiences are defined (competitions + capstone field experience)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406640" y="2395728"/>
            <a:ext cx="396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Opportunities to strengthen (implementation + coherence)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2651760"/>
            <a:ext cx="3962095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Define “core vs optional” elements across Saguaro + Mohave (for cross-site coherence)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Establish a small Tier 1 KPI set + annual review cadence (counts, capstones, competitions, retention)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Document access supports + equity checks (participation by subgroup; barriers/mitigations)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Clarify onboarding/PD model and sustainability snapshot (staffing, resource refresh)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406640" y="4315968"/>
            <a:ext cx="396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Draft next steps (district + sites)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4572000"/>
            <a:ext cx="3962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1) Pull Tier 1 evidence pack (charter/RACI, admissions, PD, resources, KPIs)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2) Centralize family-facing artifacts in a single MSA hub page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3) Capture 3–5 annual “signature student artifacts” to make updates real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6144768"/>
            <a:ext cx="11094415" cy="30175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08776"/>
            <a:ext cx="106372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2D12"/>
                </a:solidFill>
              </a:rPr>
              <a:t>Internal working note (not for public): Tier 1 evidence gaps remain for equity participation data, KPI dashboard/cadence, PD/onboarding plan, and resourcing/refresh ownership.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4C50"/>
          </a:solidFill>
          <a:ln w="12700">
            <a:solidFill>
              <a:srgbClr val="084C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SPARK Program Review – working draft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5695" y="6601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2026-02-24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6E73"/>
          </a:solidFill>
          <a:ln w="12700">
            <a:solidFill>
              <a:srgbClr val="0B6E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Review Snapshot (Internal) — MSA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635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Draft: baseline implementation &amp; system alignment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88375" y="12801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THEIR FUTURE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1109441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9875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Program: Math &amp; Science Academy (MSA)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Sites/grades: Saguaro HS (9–12) + Mohave MS (6–8)  |  Structure: signature program within a school (Saguaro); within-school program launching at Mohave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07568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1. Alignment &amp; Purpose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35000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Strength (clear model)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55117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Med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94955" y="196596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32115" y="207568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2. Evidence &amp; Effectiveness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32115" y="235000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Opportunity (define local KPIs)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32115" y="255117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41270" y="196596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78430" y="207568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3. Equity &amp; Accessibility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78430" y="235000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Evidence gap (participation/supports)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78430" y="255117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Low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87585" y="196596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24745" y="207568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4. Cost &amp; Resources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24745" y="235000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Opportunity (resource snapshot)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24745" y="255117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Low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533900" y="196596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71060" y="207568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5. Training &amp; Support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71060" y="235000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Evidence gap (onboarding/PD plan)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71060" y="255117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Low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34975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36073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6. Impact (Students/Staff)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38816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Opportunity (examples + metrics)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40827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Med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94955" y="34975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32115" y="36073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7. Implementation Feasibility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32115" y="38816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Strength (defined structure)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32115" y="40827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Med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41270" y="34975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178430" y="36073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8. Data &amp; Evaluation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78430" y="38816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Evidence gap (cadence/actions)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78430" y="40827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Low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287585" y="34975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424745" y="36073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9. Stakeholder Support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24745" y="38816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Opportunity (centralize comms)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24745" y="40827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Med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533900" y="3497580"/>
            <a:ext cx="2109155" cy="13944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671060" y="3607308"/>
            <a:ext cx="1834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10. Sustainability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71060" y="3881628"/>
            <a:ext cx="18348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Opportunity (roles/resources/refresh)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71060" y="4082796"/>
            <a:ext cx="183483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Confidence: Low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5074920"/>
            <a:ext cx="547862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5193792"/>
            <a:ext cx="52043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Tier 1 evidence status (internal)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77240" y="5440680"/>
            <a:ext cx="52043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Have (public): model/requirements, competitions list, capstone description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Need (internal): charter + RACI, admissions criteria, PD/onboarding, KPI dashboard + cadence, equity participation data, resource + refresh snapshot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64428" y="5074920"/>
            <a:ext cx="547862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7308" y="5193792"/>
            <a:ext cx="52043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High-value questions (to Lea / program leads)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47308" y="5440680"/>
            <a:ext cx="52043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• Are Saguaro + Mohave treated as one program model (single evidence pack) or two?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• What KPIs are already tracked (levels of recognition; capstones; competitions)?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• What is the PD/onboarding model and who owns it?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• What does participation look like by subgroup (equity lens)?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4C50"/>
          </a:solidFill>
          <a:ln w="12700">
            <a:solidFill>
              <a:srgbClr val="084C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SPARK Program Review – working draft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905695" y="6601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2026-02-24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6E73"/>
          </a:solidFill>
          <a:ln w="12700">
            <a:solidFill>
              <a:srgbClr val="0B6E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Review Update — STEAM / STEM Certified Schools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635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Draft: Laguna ES + Navajo ES (public-style story + uplift opportunities)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88375" y="12801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THEIR FUTURE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6400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98755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Program at a glance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5852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Laguna and Navajo are schoolwide STEAM/STEM schools recognized through Cognia STEM certification. Public pages describe a multi-year process with peer observations and extensive artifacts, scored across four domains: STEM community, learning culture, student experiences, and STEM outcomes.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What students experience (examples):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• Makerspace / Innovator’s Lab projects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• Robotics/coding and science clubs/fairs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• Interdisciplinary, real-world problem solving embedded in daily learning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0" y="868680"/>
            <a:ext cx="451073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987552"/>
            <a:ext cx="396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Strengths (baseline)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1234440"/>
            <a:ext cx="3962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Cognia certification provides a shared framework and evidence base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Concrete student experiences are described (makerspace/lab, robotics, clubs)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Community involvement is referenced as part of the certification process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406640" y="2395728"/>
            <a:ext cx="396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Opportunities to strengthen (coherence + sustainability)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2651760"/>
            <a:ext cx="3962095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Define the “core STEAM model” (non-negotiables) and how it shows up daily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Translate certification artifacts into a small KPI set + annual cadence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Document onboarding/PD for new staff + recertification/maintenance ownership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• Fix broken links and centralize key family-facing artifacts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406640" y="4315968"/>
            <a:ext cx="396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Draft next steps (district + sites)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4572000"/>
            <a:ext cx="3962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1) Pull Cognia report excerpts/scores and set Tier 1 KPIs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2) Build a one-page STEAM charter + operating model per site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3) Create a sustainability snapshot (roles, resources, refresh, recert cadence)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6144768"/>
            <a:ext cx="11094415" cy="30175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08776"/>
            <a:ext cx="106372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2D12"/>
                </a:solidFill>
              </a:rPr>
              <a:t>Internal working note (not for public): Tier 1 evidence gaps include Cognia domain scores/report summary, KPI dashboard/cadence, onboarding/PD + recertification ownership, and resource refresh planning.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4C50"/>
          </a:solidFill>
          <a:ln w="12700">
            <a:solidFill>
              <a:srgbClr val="084C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SPARK Program Review – working draft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5695" y="6601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2026-02-24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6E73"/>
          </a:solidFill>
          <a:ln w="12700">
            <a:solidFill>
              <a:srgbClr val="0B6E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Annex (Internal) — Draft design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635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the Quality Indicators; supports reviewer pairs and site conversations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88375" y="12801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THEIR FUTURE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960120"/>
            <a:ext cx="580644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09728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Annex sections (internal)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5257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A) Program Profile (1 page)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Purpose + sites/grades + structure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Enrollment/access pathway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“What students experience” (3–5 bullets)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B) Tiered Evidence Index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Tier 1 checklist (Have/Need) + links/owners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Public-safe flag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C) Findings by Quality Indicator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Domain summary + evidence links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Strengths + opportunities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Cross-site coherence notes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D) Actions &amp; Owners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3–5 uplift actions, owner, timeline, success criteria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E) Appendices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   • Data extracts (internal) + interview notes + sample artifacts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492240" y="960120"/>
            <a:ext cx="515081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097280"/>
            <a:ext cx="4785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How reviewer pairs use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1417320"/>
            <a:ext cx="47850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1) Start with Tier 1 evidence (core)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2) Draft baseline strengths + opportunities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3) Identify 3–5 uplift actions (owner + timing)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4) Prepare public summary (story + actions; no technical scoring)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Optional: add internal-only maturity + confidence per domain for calibration.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3611880"/>
            <a:ext cx="4785055" cy="27432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749040"/>
            <a:ext cx="4327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4C50"/>
                </a:solidFill>
              </a:rPr>
              <a:t>QI linkage (simple):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4023360"/>
            <a:ext cx="432785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Each annex section is organized around the Program Review Rubric categories, which map to the SPARK Quality Indicator domains. Reviewer notes should cite evidence links and clearly separate: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• What we found (evidence)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• What it suggests (implication)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• What we recommend (action)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4C50"/>
          </a:solidFill>
          <a:ln w="12700">
            <a:solidFill>
              <a:srgbClr val="084C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SPARK Program Review – working draft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05695" y="6601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2026-02-24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6E73"/>
          </a:solidFill>
          <a:ln w="12700">
            <a:solidFill>
              <a:srgbClr val="0B6E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(Internal) — Optional scoring / maturity framing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635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Hedge: numeric scoring can stay internal-only; public view stays narrative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88375" y="12801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THEIR FUTURE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960120"/>
            <a:ext cx="1109441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4300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Option A (recommended): Maturity level + confidence per domain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463040"/>
            <a:ext cx="5623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Maturity levels (internal):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Defined &amp; consistent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Partially defined / inconsistent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• Not yet evidenced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Confidence (based on Tier 1 evidence): High / Medium / 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Option B: Numeric scoring (internal-only) mapped to rubric levels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246120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Use 4–1 rubric levels for calibration within SPARK reviewer pairs.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Publish only narrative strengths/opportunities and agreed next steps.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1417320"/>
            <a:ext cx="2430612" cy="384048"/>
          </a:xfrm>
          <a:prstGeom prst="rect">
            <a:avLst/>
          </a:prstGeom>
          <a:solidFill>
            <a:srgbClr val="0B6E73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QI Domain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34332" y="1417320"/>
            <a:ext cx="972245" cy="384048"/>
          </a:xfrm>
          <a:prstGeom prst="rect">
            <a:avLst/>
          </a:prstGeom>
          <a:solidFill>
            <a:srgbClr val="0B6E73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Maturity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06577" y="1417320"/>
            <a:ext cx="1016438" cy="384048"/>
          </a:xfrm>
          <a:prstGeom prst="rect">
            <a:avLst/>
          </a:prstGeom>
          <a:solidFill>
            <a:srgbClr val="0B6E73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3720" y="1801368"/>
            <a:ext cx="2430612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Alignment &amp; Purpose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34332" y="1801368"/>
            <a:ext cx="972245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Partial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06577" y="1801368"/>
            <a:ext cx="1016438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Med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185416"/>
            <a:ext cx="24306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Training &amp; Support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34332" y="2185416"/>
            <a:ext cx="97224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Gap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306577" y="2185416"/>
            <a:ext cx="101643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2569464"/>
            <a:ext cx="2430612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Data &amp; Evaluation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34332" y="2569464"/>
            <a:ext cx="972245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Gap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06577" y="2569464"/>
            <a:ext cx="1016438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2953512"/>
            <a:ext cx="24306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Sustainability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34332" y="2953512"/>
            <a:ext cx="97224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Partial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06577" y="2953512"/>
            <a:ext cx="101643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4C50"/>
          </a:solidFill>
          <a:ln w="12700">
            <a:solidFill>
              <a:srgbClr val="084C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6019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SPARK Program Review – working draft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05695" y="6601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2026-02-24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SPARK Program Review</dc:creator>
  <cp:lastModifiedBy>SPARK Program Review</cp:lastModifiedBy>
  <cp:revision>1</cp:revision>
  <dcterms:created xsi:type="dcterms:W3CDTF">2026-02-24T19:16:33Z</dcterms:created>
  <dcterms:modified xsi:type="dcterms:W3CDTF">2026-02-24T19:16:33Z</dcterms:modified>
</cp:coreProperties>
</file>