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3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18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[Sources]
- SPARK Team Launch deck (format inspiration; QI domains and current structures).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[Sources]
- SUSD district Math &amp; Science Academy overview: https://www.susd.org/academics/academic-programs/math-science-academy
- Saguaro HS Math &amp; Science Academy: https://saguaro.susd.org/academics/math-science-academy
- Mohave MS Math &amp; Science Academy: https://www.susd.org/academics/academic-programs/math-science-academy/mohave-middle-school
- MSA Levels of Distinction/Recognition (Saguaro): https://saguaro.susd.org/academics/math-science-academy/levels-of-distinction
- SPARK Team Launch deck: current structures include “Signature Program within a School” (examples include Saguaro MSA, Mohave MSA).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[Sources]
- Quality Indicator domains and “practice review” framing: SPARK Team Launch deck.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[Sources]
- Quality Indicator domains: SUSD Specialty School/Signature Program Quality Indicators.
- SPARK Team Launch deck (QI domains slide).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park_sunburst_tri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64008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Program Annual Update (Public Summary)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05840" y="7589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implementation + system alignment (Quality Indicators–aligned)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133856"/>
            <a:ext cx="11612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188720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&lt;PROGRAM NAME&gt;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426464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/ grades: &lt;SITES, GRADE BANDS&gt;   |   Structure: &lt;Dedicated / Schoolwide / Within-school&gt;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7040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7040880" cy="347472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184708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1: Implementation Definition &amp; Fidelity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221992"/>
            <a:ext cx="6400800" cy="97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&lt;What the core program model looks like&gt;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&lt;Where implementation varies across sites (intentional vs drift)&gt;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&lt;Student/teacher experience signals (schedule, workload, delivery)&gt;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7040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3429000"/>
            <a:ext cx="7040880" cy="347472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349300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2: System Alignment &amp; Coherence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867912"/>
            <a:ext cx="6400800" cy="97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&lt;Enrollment pathway and access mechanics&gt;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&lt;Staffing/roles + PD/support model&gt;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&lt;Cross-site coherence opportunities&gt;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7040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" y="5074920"/>
            <a:ext cx="7040880" cy="347472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7240" y="513892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3: Continuous Improvement &amp; Sustainability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5513832"/>
            <a:ext cx="6400800" cy="97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&lt;Local success metrics + data cadence (what is reviewed, by whom, and when)&gt;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&lt;Recent improvements made based on evidence&gt;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&lt;Sustainability risks (funding, staffing, leadership transitions)&gt;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18120" y="1783080"/>
            <a:ext cx="43434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818120" y="1783080"/>
            <a:ext cx="4343400" cy="347472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0" y="18470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Indicator Snapshot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92440" y="21945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domains (QI) shown as evidence coverage for this cycle: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046720" y="2560320"/>
            <a:ext cx="689458" cy="566928"/>
          </a:xfrm>
          <a:prstGeom prst="round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119872" y="2633472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Align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119872" y="285292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845906" y="2560320"/>
            <a:ext cx="689458" cy="566928"/>
          </a:xfrm>
          <a:prstGeom prst="round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919058" y="2633472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Evid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919058" y="285292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645091" y="2560320"/>
            <a:ext cx="689458" cy="566928"/>
          </a:xfrm>
          <a:prstGeom prst="round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718243" y="2633472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Equity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718243" y="285292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0444277" y="2560320"/>
            <a:ext cx="689458" cy="566928"/>
          </a:xfrm>
          <a:prstGeom prst="round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0517429" y="2633472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517429" y="285292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1243462" y="2560320"/>
            <a:ext cx="689458" cy="566928"/>
          </a:xfrm>
          <a:prstGeom prst="round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1316614" y="2633472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Train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1316614" y="285292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046720" y="3236976"/>
            <a:ext cx="689458" cy="566928"/>
          </a:xfrm>
          <a:prstGeom prst="round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8119872" y="331012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Imp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119872" y="3529584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845906" y="3236976"/>
            <a:ext cx="689458" cy="566928"/>
          </a:xfrm>
          <a:prstGeom prst="round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919058" y="331012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Feas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919058" y="3529584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45091" y="3236976"/>
            <a:ext cx="689458" cy="566928"/>
          </a:xfrm>
          <a:prstGeom prst="round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9718243" y="331012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Data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9718243" y="3529584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10444277" y="3236976"/>
            <a:ext cx="689458" cy="566928"/>
          </a:xfrm>
          <a:prstGeom prst="round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0517429" y="331012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Stake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10517429" y="3529584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1243462" y="3236976"/>
            <a:ext cx="689458" cy="566928"/>
          </a:xfrm>
          <a:prstGeom prst="roundRect">
            <a:avLst/>
          </a:prstGeom>
          <a:solidFill>
            <a:srgbClr val="CBD5E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1316614" y="331012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Sust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11316614" y="3529584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8046720" y="3931920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coverage (public):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8046720" y="4169664"/>
            <a:ext cx="146304" cy="146304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8247888" y="41605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8915400" y="4169664"/>
            <a:ext cx="146304" cy="146304"/>
          </a:xfrm>
          <a:prstGeom prst="rect">
            <a:avLst/>
          </a:prstGeom>
          <a:solidFill>
            <a:srgbClr val="F2B600"/>
          </a:solidFill>
          <a:ln w="12700">
            <a:solidFill>
              <a:srgbClr val="F2B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9116568" y="41605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9784080" y="4169664"/>
            <a:ext cx="146304" cy="14630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9985248" y="41605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548640" y="651052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summary intentionally focuses on implementation + system alignment (baseline) and highlights next-cycle evidence strengthening.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park_sunburst_tri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64008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Program Annual Update (Public Summary)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05840" y="7589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(partial): Scottsdale Math &amp; Science Academy (MSA)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133856"/>
            <a:ext cx="11612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18872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Scottsdale Math &amp; Science Academy (MSA)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426464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/ grades: Saguaro HS (9–12) + Mohave MS (6–8)   |   Structure: Signature program within a school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7040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7040880" cy="347472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184708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1: Implementation Definition &amp; Fidelity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221992"/>
            <a:ext cx="6400800" cy="97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purpose and student experience are clearly described (STEM-focused learning environment).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levels and expectations are documented (courses, experiences, milestones).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Mohave launch emphasizes hands-on STEM experiences and access to dedicated resources.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7040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3429000"/>
            <a:ext cx="7040880" cy="347472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349300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2: System Alignment &amp; Coherence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3867912"/>
            <a:ext cx="6400800" cy="97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pathway framing across MS → HS, but “core vs optional” elements by site should be clarified.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Center / resource-intensive components imply maintenance and staffing dependencies.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standardize cross-site implementation artifacts (charter, RACI, schedule model).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7040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" y="5074920"/>
            <a:ext cx="7040880" cy="347472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7240" y="513892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3: Continuous Improvement &amp; Sustainability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5513832"/>
            <a:ext cx="6400800" cy="97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KPIs and annual data cadence are not clearly published.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define a small, repeatable KPI set (and who reviews it) for annual updates.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focus: staffing continuity, equipment refresh, and equitable access signals.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18120" y="1783080"/>
            <a:ext cx="4343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818120" y="1783080"/>
            <a:ext cx="4343400" cy="347472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0" y="18470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 Snapshot (public evidence coverage)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46720" y="2148840"/>
            <a:ext cx="689458" cy="566928"/>
          </a:xfrm>
          <a:prstGeom prst="roundRect">
            <a:avLst/>
          </a:prstGeom>
          <a:solidFill>
            <a:srgbClr val="F2B6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2221992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Align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119872" y="244144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845906" y="2148840"/>
            <a:ext cx="689458" cy="566928"/>
          </a:xfrm>
          <a:prstGeom prst="roundRect">
            <a:avLst/>
          </a:prstGeom>
          <a:solidFill>
            <a:srgbClr val="F2B6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919058" y="2221992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Evid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919058" y="244144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9645091" y="2148840"/>
            <a:ext cx="689458" cy="566928"/>
          </a:xfrm>
          <a:prstGeom prst="roundRect">
            <a:avLst/>
          </a:prstGeom>
          <a:solidFill>
            <a:srgbClr val="9CA3A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718243" y="2221992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Equity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718243" y="244144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444277" y="2148840"/>
            <a:ext cx="689458" cy="566928"/>
          </a:xfrm>
          <a:prstGeom prst="roundRect">
            <a:avLst/>
          </a:prstGeom>
          <a:solidFill>
            <a:srgbClr val="9CA3A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517429" y="2221992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0517429" y="244144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1243462" y="2148840"/>
            <a:ext cx="689458" cy="566928"/>
          </a:xfrm>
          <a:prstGeom prst="roundRect">
            <a:avLst/>
          </a:prstGeom>
          <a:solidFill>
            <a:srgbClr val="9CA3A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1316614" y="2221992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Train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1316614" y="244144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046720" y="2825496"/>
            <a:ext cx="689458" cy="566928"/>
          </a:xfrm>
          <a:prstGeom prst="roundRect">
            <a:avLst/>
          </a:prstGeom>
          <a:solidFill>
            <a:srgbClr val="F2B6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119872" y="289864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Imp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119872" y="3118104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845906" y="2825496"/>
            <a:ext cx="689458" cy="566928"/>
          </a:xfrm>
          <a:prstGeom prst="roundRect">
            <a:avLst/>
          </a:prstGeom>
          <a:solidFill>
            <a:srgbClr val="F2B6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919058" y="289864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Feas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919058" y="3118104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645091" y="2825496"/>
            <a:ext cx="689458" cy="566928"/>
          </a:xfrm>
          <a:prstGeom prst="roundRect">
            <a:avLst/>
          </a:prstGeom>
          <a:solidFill>
            <a:srgbClr val="9CA3A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9718243" y="289864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Data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9718243" y="3118104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0444277" y="2825496"/>
            <a:ext cx="689458" cy="566928"/>
          </a:xfrm>
          <a:prstGeom prst="roundRect">
            <a:avLst/>
          </a:prstGeom>
          <a:solidFill>
            <a:srgbClr val="F2B6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0517429" y="289864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Stake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10517429" y="3118104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11243462" y="2825496"/>
            <a:ext cx="689458" cy="566928"/>
          </a:xfrm>
          <a:prstGeom prst="roundRect">
            <a:avLst/>
          </a:prstGeom>
          <a:solidFill>
            <a:srgbClr val="9CA3A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1316614" y="2898648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Sust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11316614" y="3118104"/>
            <a:ext cx="543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7818120" y="4983480"/>
            <a:ext cx="4343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7818120" y="4983480"/>
            <a:ext cx="4343400" cy="347472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8046720" y="50474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evidence gaps (Tier 1)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8110728" y="5358384"/>
            <a:ext cx="3886200" cy="10775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charter + “core vs optional” by site (Lens 1/2)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Enrollment/participation by subgroup (access lens) (Lens 2)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set + data review cadence + actions (Lens 3)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Staffing/PD/support + resource refresh plan (Lens 2/3)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park_sunburst_tri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64008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 Annex – Design (no scoring)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05840" y="7589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evidence + coherence notes aligned to the 10 Quality Indicator domains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2286000" cy="365760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8368" y="130759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834640" y="1234440"/>
            <a:ext cx="2011680" cy="365760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944368" y="13075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 domains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234440"/>
            <a:ext cx="5669280" cy="365760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56048" y="1307592"/>
            <a:ext cx="5449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here (examples)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515600" y="1234440"/>
            <a:ext cx="1645920" cy="365760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625328" y="1307592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Public-safe?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1618488"/>
            <a:ext cx="228600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" y="169164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Program definition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834640" y="1618488"/>
            <a:ext cx="20116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944368" y="16916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1,6,7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1618488"/>
            <a:ext cx="56692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56048" y="1691640"/>
            <a:ext cx="54498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Charter/model definition; non-negotiables; structure type; site scope; key artifacts/links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515600" y="1618488"/>
            <a:ext cx="164592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625328" y="16916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2203704"/>
            <a:ext cx="228600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8368" y="2276856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Evidence index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834640" y="2203704"/>
            <a:ext cx="20116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944368" y="227685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2203704"/>
            <a:ext cx="56692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56048" y="2276856"/>
            <a:ext cx="54498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 checklist (Tier 1/2/3); links; owners; dates; confidentiality flags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515600" y="2203704"/>
            <a:ext cx="164592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0625328" y="2276856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2788920"/>
            <a:ext cx="228600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58368" y="286207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Implementation notes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834640" y="2788920"/>
            <a:ext cx="20116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944368" y="286207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846320" y="2788920"/>
            <a:ext cx="56692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956048" y="2862072"/>
            <a:ext cx="54498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Site-by-site implementation differences; schedules; staffing patterns; fidelity observations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0515600" y="2788920"/>
            <a:ext cx="164592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0625328" y="2862072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3374136"/>
            <a:ext cx="228600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58368" y="3447288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System alignment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834640" y="3374136"/>
            <a:ext cx="20116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2944368" y="344728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1,3,4,5,9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846320" y="3374136"/>
            <a:ext cx="56692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56048" y="3447288"/>
            <a:ext cx="54498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pathway/access; PD/support model; resources/maintenance; comms; stakeholder feedback themes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0515600" y="3374136"/>
            <a:ext cx="164592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0625328" y="3447288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48640" y="3959352"/>
            <a:ext cx="228600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58368" y="4032504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Continuous improvement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2834640" y="3959352"/>
            <a:ext cx="20116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944368" y="4032504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846320" y="3959352"/>
            <a:ext cx="56692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956048" y="4032504"/>
            <a:ext cx="54498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success metrics; dashboards; data cadence; “actions taken” log; improvement priorities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0515600" y="3959352"/>
            <a:ext cx="164592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0625328" y="4032504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48640" y="4544568"/>
            <a:ext cx="228600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58368" y="461772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Sustainability &amp; risks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2834640" y="4544568"/>
            <a:ext cx="20116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2944368" y="46177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846320" y="4544568"/>
            <a:ext cx="56692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956048" y="4617720"/>
            <a:ext cx="54498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Funding/staffing stability; succession plan; single points of failure; mitigation actions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10515600" y="4544568"/>
            <a:ext cx="164592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10625328" y="4617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548640" y="5129784"/>
            <a:ext cx="228600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658368" y="5202936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Support plan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2834640" y="5129784"/>
            <a:ext cx="20116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2944368" y="520293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4846320" y="5129784"/>
            <a:ext cx="566928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4956048" y="5202936"/>
            <a:ext cx="54498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supports needed; owners; timelines; next review cycle cadence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10515600" y="5129784"/>
            <a:ext cx="1645920" cy="56692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10625328" y="5202936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548640" y="635508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annex to support site-level coaching conversations and to build consistency across annual updates; avoid public-facing language that implies “continuation decisions.”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park_sunburst_tri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64008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 Annex – Design (with scoring option)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05840" y="7589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+ confidence can be added for internal calibration (not required for public summary)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1612880" cy="777240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325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options (internal):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60934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Maturity levels per QI domain: 1=Not yet defined, 2=Developing, 3=Established, 4=Optimized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Confidence: High / Medium / Low (based on evidence completeness)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3017520" cy="365760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" y="2221992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 domain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66160" y="2148840"/>
            <a:ext cx="4480560" cy="365760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75888" y="2221992"/>
            <a:ext cx="4261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highlights (links in annex)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2148840"/>
            <a:ext cx="1280160" cy="365760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156448" y="2221992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326880" y="2148840"/>
            <a:ext cx="1463040" cy="365760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436608" y="2221992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789920" y="2148840"/>
            <a:ext cx="1371600" cy="365760"/>
          </a:xfrm>
          <a:prstGeom prst="rect">
            <a:avLst/>
          </a:prstGeom>
          <a:solidFill>
            <a:srgbClr val="0F6B6F"/>
          </a:solidFill>
          <a:ln w="12700">
            <a:solidFill>
              <a:srgbClr val="0F6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899648" y="2221992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2532888"/>
            <a:ext cx="301752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8368" y="260604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Alignment &amp; Purpose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566160" y="2532888"/>
            <a:ext cx="448056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75888" y="2606040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&lt;evidence bullets&gt;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46720" y="2532888"/>
            <a:ext cx="128016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56448" y="2606040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&lt;1–4&gt;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326880" y="2532888"/>
            <a:ext cx="146304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436608" y="2606040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&lt;H/M/L&gt;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0789920" y="2532888"/>
            <a:ext cx="137160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899648" y="260604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&lt;gaps + asks&gt;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" y="2935224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58368" y="300837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Evidence &amp; Effectiveness (reframed)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566160" y="2935224"/>
            <a:ext cx="4480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675888" y="3008376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&lt;evidence bullets&gt;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2935224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156448" y="3008376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&lt;1–4&gt;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326880" y="2935224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436608" y="3008376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&lt;H/M/L&gt;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0789920" y="2935224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0899648" y="3008376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&lt;gaps + asks&gt;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48640" y="3337560"/>
            <a:ext cx="301752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58368" y="3410712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Equity &amp; Accessibility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566160" y="3337560"/>
            <a:ext cx="448056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675888" y="3410712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&lt;evidence bullets&gt;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046720" y="3337560"/>
            <a:ext cx="128016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156448" y="3410712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&lt;1–4&gt;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326880" y="3337560"/>
            <a:ext cx="146304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9436608" y="341071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&lt;H/M/L&gt;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0789920" y="3337560"/>
            <a:ext cx="137160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10899648" y="3410712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&lt;gaps + asks&gt;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48640" y="3739896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58368" y="3813048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Cost &amp; Resources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566160" y="3739896"/>
            <a:ext cx="4480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3675888" y="3813048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&lt;evidence bullets&gt;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046720" y="3739896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8156448" y="3813048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&lt;1–4&gt;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326880" y="3739896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9436608" y="381304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&lt;H/M/L&gt;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0789920" y="373989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10899648" y="3813048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&lt;gaps + asks&gt;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48640" y="4142232"/>
            <a:ext cx="301752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58368" y="4215384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Training &amp; Support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566160" y="4142232"/>
            <a:ext cx="448056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3675888" y="4215384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&lt;evidence bullets&gt;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8046720" y="4142232"/>
            <a:ext cx="128016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8156448" y="4215384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&lt;1–4&gt;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9326880" y="4142232"/>
            <a:ext cx="146304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9436608" y="4215384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&lt;H/M/L&gt;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10789920" y="4142232"/>
            <a:ext cx="137160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10899648" y="4215384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&lt;gaps + asks&gt;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548640" y="4544568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658368" y="461772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Impact on Students &amp; Staff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3566160" y="4544568"/>
            <a:ext cx="4480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3675888" y="4617720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&lt;evidence bullets&gt;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046720" y="4544568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8156448" y="4617720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&lt;1–4&gt;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9326880" y="4544568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9436608" y="4617720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&lt;H/M/L&gt;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10789920" y="45445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10899648" y="461772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&lt;gaps + asks&gt;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548640" y="4946904"/>
            <a:ext cx="301752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658368" y="502005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Implementation Feasibility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3566160" y="4946904"/>
            <a:ext cx="448056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3675888" y="5020056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&lt;evidence bullets&gt;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8046720" y="4946904"/>
            <a:ext cx="128016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8156448" y="5020056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&lt;1–4&gt;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9326880" y="4946904"/>
            <a:ext cx="146304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9436608" y="5020056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&lt;H/M/L&gt;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10789920" y="4946904"/>
            <a:ext cx="137160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10899648" y="5020056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&lt;gaps + asks&gt;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548640" y="5349240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6"/>
          <p:cNvSpPr/>
          <p:nvPr/>
        </p:nvSpPr>
        <p:spPr>
          <a:xfrm>
            <a:off x="658368" y="5422392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Data &amp; Evaluation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3566160" y="5349240"/>
            <a:ext cx="4480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8"/>
          <p:cNvSpPr/>
          <p:nvPr/>
        </p:nvSpPr>
        <p:spPr>
          <a:xfrm>
            <a:off x="3675888" y="5422392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&lt;evidence bullets&gt;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8046720" y="5349240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0"/>
          <p:cNvSpPr/>
          <p:nvPr/>
        </p:nvSpPr>
        <p:spPr>
          <a:xfrm>
            <a:off x="8156448" y="5422392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&lt;1–4&gt;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9326880" y="534924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2"/>
          <p:cNvSpPr/>
          <p:nvPr/>
        </p:nvSpPr>
        <p:spPr>
          <a:xfrm>
            <a:off x="9436608" y="542239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&lt;H/M/L&gt;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10789920" y="534924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4"/>
          <p:cNvSpPr/>
          <p:nvPr/>
        </p:nvSpPr>
        <p:spPr>
          <a:xfrm>
            <a:off x="10899648" y="5422392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&lt;gaps + asks&gt;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548640" y="5751576"/>
            <a:ext cx="301752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6"/>
          <p:cNvSpPr/>
          <p:nvPr/>
        </p:nvSpPr>
        <p:spPr>
          <a:xfrm>
            <a:off x="658368" y="5824728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Stakeholder Support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3566160" y="5751576"/>
            <a:ext cx="448056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8"/>
          <p:cNvSpPr/>
          <p:nvPr/>
        </p:nvSpPr>
        <p:spPr>
          <a:xfrm>
            <a:off x="3675888" y="5824728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&lt;evidence bullets&gt;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8046720" y="5751576"/>
            <a:ext cx="128016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0"/>
          <p:cNvSpPr/>
          <p:nvPr/>
        </p:nvSpPr>
        <p:spPr>
          <a:xfrm>
            <a:off x="8156448" y="5824728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&lt;1–4&gt;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9326880" y="5751576"/>
            <a:ext cx="146304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2"/>
          <p:cNvSpPr/>
          <p:nvPr/>
        </p:nvSpPr>
        <p:spPr>
          <a:xfrm>
            <a:off x="9436608" y="5824728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&lt;H/M/L&gt;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10789920" y="5751576"/>
            <a:ext cx="1371600" cy="384048"/>
          </a:xfrm>
          <a:prstGeom prst="rect">
            <a:avLst/>
          </a:prstGeom>
          <a:solidFill>
            <a:srgbClr val="F3F5F7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4"/>
          <p:cNvSpPr/>
          <p:nvPr/>
        </p:nvSpPr>
        <p:spPr>
          <a:xfrm>
            <a:off x="10899648" y="5824728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&lt;gaps + asks&gt;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548640" y="6153912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6"/>
          <p:cNvSpPr/>
          <p:nvPr/>
        </p:nvSpPr>
        <p:spPr>
          <a:xfrm>
            <a:off x="658368" y="6227064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Sustainability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3566160" y="6153912"/>
            <a:ext cx="4480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8"/>
          <p:cNvSpPr/>
          <p:nvPr/>
        </p:nvSpPr>
        <p:spPr>
          <a:xfrm>
            <a:off x="3675888" y="6227064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&lt;evidence bullets&gt;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8046720" y="6153912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0"/>
          <p:cNvSpPr/>
          <p:nvPr/>
        </p:nvSpPr>
        <p:spPr>
          <a:xfrm>
            <a:off x="8156448" y="6227064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&lt;1–4&gt;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9326880" y="6153912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2"/>
          <p:cNvSpPr/>
          <p:nvPr/>
        </p:nvSpPr>
        <p:spPr>
          <a:xfrm>
            <a:off x="9436608" y="6227064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&lt;H/M/L&gt;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10789920" y="61539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4"/>
          <p:cNvSpPr/>
          <p:nvPr/>
        </p:nvSpPr>
        <p:spPr>
          <a:xfrm>
            <a:off x="10899648" y="6227064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&lt;gaps + asks&gt;</a:t>
            </a:r>
            <a:endParaRPr lang="en-US" sz="1000" dirty="0"/>
          </a:p>
        </p:txBody>
      </p:sp>
      <p:sp>
        <p:nvSpPr>
          <p:cNvPr id="118" name="Text 115"/>
          <p:cNvSpPr/>
          <p:nvPr/>
        </p:nvSpPr>
        <p:spPr>
          <a:xfrm>
            <a:off x="548640" y="6656832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keep numeric scoring internal-only; the public one-pager should remain strengths/opportunities/next steps with evidence gaps stated neutrally.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1299</Words>
  <Application>Microsoft Office PowerPoint</Application>
  <PresentationFormat>Widescreen</PresentationFormat>
  <Paragraphs>189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SPARK Program Review</dc:creator>
  <cp:lastModifiedBy>Brian Hohl</cp:lastModifiedBy>
  <cp:revision>1</cp:revision>
  <dcterms:created xsi:type="dcterms:W3CDTF">2026-02-17T18:00:38Z</dcterms:created>
  <dcterms:modified xsi:type="dcterms:W3CDTF">2026-02-17T19:00:02Z</dcterms:modified>
</cp:coreProperties>
</file>